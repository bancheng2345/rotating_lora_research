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PC-LoRA / Preserve-and-Capture LoRA 进展汇报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822960" y="114300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3000" b="1">
                <a:solidFill>
                  <a:srgbClr val="17365D"/>
                </a:solidFill>
                <a:latin typeface="Microsoft YaHei"/>
                <a:ea typeface="Microsoft YaHei"/>
              </a:rPr>
              <a:t>阶段性实验结果与下一步计划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22960" y="205740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>
                <a:solidFill>
                  <a:srgbClr val="444444"/>
                </a:solidFill>
                <a:latin typeface="Microsoft YaHei"/>
                <a:ea typeface="Microsoft YaHei"/>
              </a:rPr>
              <a:t>项目路径：/data/zck/code/rotating_lora_research</a:t>
            </a:r>
            <a:endParaRPr lang="zh-CN" sz="1800"/>
          </a:p>
        </p:txBody>
      </p:sp>
      <p:sp>
        <p:nvSpPr>
          <p:cNvPr id="6" name="TextBox 6"/>
          <p:cNvSpPr txBox="1"/>
          <p:nvPr/>
        </p:nvSpPr>
        <p:spPr>
          <a:xfrm>
            <a:off x="822960" y="278892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汇报日期：2026-05-07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核心问题：如何在 LoRA 中同时保护预训练主子空间，并捕获任务残差信号</a:t>
            </a:r>
            <a:endParaRPr lang="zh-CN" sz="2000"/>
          </a:p>
        </p:txBody>
      </p:sp>
      <p:sp>
        <p:nvSpPr>
          <p:cNvPr id="7" name="TextBox 7"/>
          <p:cNvSpPr txBox="1"/>
          <p:nvPr/>
        </p:nvSpPr>
        <p:spPr>
          <a:xfrm>
            <a:off x="822960" y="51206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 b="1">
                <a:solidFill>
                  <a:srgbClr val="C00000"/>
                </a:solidFill>
                <a:latin typeface="Microsoft YaHei"/>
                <a:ea typeface="Microsoft YaHei"/>
              </a:rPr>
              <a:t>当前结论：SVD 更适合 Preserve；Activation-aware 信号更适合 Allocation/Capture，而不是 hard projection。</a:t>
            </a:r>
            <a:endParaRPr 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研究目标与方法假设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68580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目标：验证 PC-LoRA 是否能在 LoRA 微调中同时做到 Preserve 与 Capture。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核心公式：ΔW = P_L B A P_R，其中 P_L/P_R 避免更新干扰预训练主方向。</a:t>
            </a:r>
            <a:endParaRPr lang="zh-CN" sz="2000"/>
          </a:p>
        </p:txBody>
      </p:sp>
      <p:sp>
        <p:nvSpPr>
          <p:cNvPr id="5" name="TextBox 5"/>
          <p:cNvSpPr txBox="1"/>
          <p:nvPr/>
        </p:nvSpPr>
        <p:spPr>
          <a:xfrm>
            <a:off x="777240" y="2148840"/>
            <a:ext cx="3474720" cy="237744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Preserve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用 W0 的 top-k SVD 方向构造投影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避免 LoRA 更新干扰预训练主映射方向</a:t>
            </a:r>
            <a:endParaRPr lang="zh-CN" sz="1700"/>
          </a:p>
        </p:txBody>
      </p:sp>
      <p:sp>
        <p:nvSpPr>
          <p:cNvPr id="6" name="TextBox 6"/>
          <p:cNvSpPr txBox="1"/>
          <p:nvPr/>
        </p:nvSpPr>
        <p:spPr>
          <a:xfrm>
            <a:off x="4343400" y="2148840"/>
            <a:ext cx="3474720" cy="237744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Capture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加入 residual input capture loss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让 A 的 row-space 捕获 P_R z 中的任务残差信号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7909560" y="2148840"/>
            <a:ext cx="3474720" cy="237744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Allocation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用 ActivationCov/Fisher/CUR 等信号做层/模块/rank 分配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避免把高任务信号直接投影删除</a:t>
            </a:r>
            <a:endParaRPr lang="zh-CN" sz="1700"/>
          </a:p>
        </p:txBody>
      </p:sp>
      <p:sp>
        <p:nvSpPr>
          <p:cNvPr id="8" name="TextBox 8"/>
          <p:cNvSpPr txBox="1"/>
          <p:nvPr/>
        </p:nvSpPr>
        <p:spPr>
          <a:xfrm>
            <a:off x="777240" y="489204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200" b="1">
                <a:solidFill>
                  <a:srgbClr val="17365D"/>
                </a:solidFill>
                <a:latin typeface="Microsoft YaHei"/>
                <a:ea typeface="Microsoft YaHei"/>
              </a:rPr>
              <a:t>当前最合理组合：SVD-Preserve + Activation-aware Allocation + PC residual Capture</a:t>
            </a:r>
            <a:endParaRPr lang="zh-CN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已完成工程框架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685800" y="914400"/>
            <a:ext cx="5394960" cy="448056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方法实现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标准 LoRA baseline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OPLoRA：SVD/right projection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PC-LoRA：residual capture + orth loss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ActivationCov/Fisher/CUR projection 对照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ActCov rank allocation 与组合方法</a:t>
            </a:r>
            <a:endParaRPr lang="zh-CN" sz="1800"/>
          </a:p>
        </p:txBody>
      </p:sp>
      <p:sp>
        <p:nvSpPr>
          <p:cNvPr id="5" name="TextBox 5"/>
          <p:cNvSpPr txBox="1"/>
          <p:nvPr/>
        </p:nvSpPr>
        <p:spPr>
          <a:xfrm>
            <a:off x="6263640" y="914400"/>
            <a:ext cx="5212080" cy="448056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实验与日志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8B/3B/1B 本地模型配置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Commonsense170k / Math500 数据入口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自动 GPU 选择与 --gpu override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train/eval/mechanism/efficiency jsonl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汇总、画图、smoke/unit tests</a:t>
            </a:r>
            <a:endParaRPr lang="zh-CN" sz="1800"/>
          </a:p>
        </p:txBody>
      </p:sp>
      <p:sp>
        <p:nvSpPr>
          <p:cNvPr id="6" name="TextBox 6"/>
          <p:cNvSpPr txBox="1"/>
          <p:nvPr/>
        </p:nvSpPr>
        <p:spPr>
          <a:xfrm>
            <a:off x="731520" y="562356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700">
                <a:solidFill>
                  <a:srgbClr val="444444"/>
                </a:solidFill>
                <a:latin typeface="Microsoft YaHei"/>
                <a:ea typeface="Microsoft YaHei"/>
              </a:rPr>
              <a:t>产物：可复现实验脚本、配置化方法矩阵、结果按模型目录归档。</a:t>
            </a:r>
            <a:endParaRPr lang="zh-CN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主要实验设置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685800" y="960120"/>
            <a:ext cx="2103120" cy="4876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13232" y="978408"/>
            <a:ext cx="204825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项目</a:t>
            </a:r>
            <a:endParaRPr lang="zh-CN" sz="1400"/>
          </a:p>
        </p:txBody>
      </p:sp>
      <p:sp>
        <p:nvSpPr>
          <p:cNvPr id="6" name="Rect 6"/>
          <p:cNvSpPr/>
          <p:nvPr/>
        </p:nvSpPr>
        <p:spPr>
          <a:xfrm>
            <a:off x="2788920" y="960120"/>
            <a:ext cx="8778240" cy="4876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16352" y="978408"/>
            <a:ext cx="872337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设置</a:t>
            </a:r>
            <a:endParaRPr lang="zh-CN" sz="1400"/>
          </a:p>
        </p:txBody>
      </p:sp>
      <p:sp>
        <p:nvSpPr>
          <p:cNvPr id="8" name="Rect 8"/>
          <p:cNvSpPr/>
          <p:nvPr/>
        </p:nvSpPr>
        <p:spPr>
          <a:xfrm>
            <a:off x="685800" y="1447800"/>
            <a:ext cx="2103120" cy="4876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13232" y="1466088"/>
            <a:ext cx="204825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模型</a:t>
            </a:r>
            <a:endParaRPr lang="zh-CN" sz="1400"/>
          </a:p>
        </p:txBody>
      </p:sp>
      <p:sp>
        <p:nvSpPr>
          <p:cNvPr id="10" name="Rect 10"/>
          <p:cNvSpPr/>
          <p:nvPr/>
        </p:nvSpPr>
        <p:spPr>
          <a:xfrm>
            <a:off x="2788920" y="1447800"/>
            <a:ext cx="8778240" cy="4876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16352" y="1466088"/>
            <a:ext cx="872337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Llama-3.1-8B 本地 checkpoint</a:t>
            </a:r>
            <a:endParaRPr lang="zh-CN" sz="1400"/>
          </a:p>
        </p:txBody>
      </p:sp>
      <p:sp>
        <p:nvSpPr>
          <p:cNvPr id="12" name="Rect 12"/>
          <p:cNvSpPr/>
          <p:nvPr/>
        </p:nvSpPr>
        <p:spPr>
          <a:xfrm>
            <a:off x="685800" y="1935480"/>
            <a:ext cx="2103120" cy="487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13232" y="1953768"/>
            <a:ext cx="204825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数据</a:t>
            </a:r>
            <a:endParaRPr lang="zh-CN" sz="1400"/>
          </a:p>
        </p:txBody>
      </p:sp>
      <p:sp>
        <p:nvSpPr>
          <p:cNvPr id="14" name="Rect 14"/>
          <p:cNvSpPr/>
          <p:nvPr/>
        </p:nvSpPr>
        <p:spPr>
          <a:xfrm>
            <a:off x="2788920" y="1935480"/>
            <a:ext cx="8778240" cy="487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816352" y="1953768"/>
            <a:ext cx="872337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Commonsense170k local split；train 165,420；eval 5,000</a:t>
            </a:r>
            <a:endParaRPr lang="zh-CN" sz="1400"/>
          </a:p>
        </p:txBody>
      </p:sp>
      <p:sp>
        <p:nvSpPr>
          <p:cNvPr id="16" name="Rect 16"/>
          <p:cNvSpPr/>
          <p:nvPr/>
        </p:nvSpPr>
        <p:spPr>
          <a:xfrm>
            <a:off x="685800" y="2423160"/>
            <a:ext cx="2103120" cy="4876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13232" y="2441448"/>
            <a:ext cx="204825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训练</a:t>
            </a:r>
            <a:endParaRPr lang="zh-CN" sz="1400"/>
          </a:p>
        </p:txBody>
      </p:sp>
      <p:sp>
        <p:nvSpPr>
          <p:cNvPr id="18" name="Rect 18"/>
          <p:cNvSpPr/>
          <p:nvPr/>
        </p:nvSpPr>
        <p:spPr>
          <a:xfrm>
            <a:off x="2788920" y="2423160"/>
            <a:ext cx="8778240" cy="4876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816352" y="2441448"/>
            <a:ext cx="872337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300 steps；batch=1；grad_accum=8；bf16；gradient checkpointing</a:t>
            </a:r>
            <a:endParaRPr lang="zh-CN" sz="1400"/>
          </a:p>
        </p:txBody>
      </p:sp>
      <p:sp>
        <p:nvSpPr>
          <p:cNvPr id="20" name="Rect 20"/>
          <p:cNvSpPr/>
          <p:nvPr/>
        </p:nvSpPr>
        <p:spPr>
          <a:xfrm>
            <a:off x="685800" y="2910840"/>
            <a:ext cx="2103120" cy="487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3232" y="2929128"/>
            <a:ext cx="204825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Matched 设置</a:t>
            </a:r>
            <a:endParaRPr lang="zh-CN" sz="1400"/>
          </a:p>
        </p:txBody>
      </p:sp>
      <p:sp>
        <p:nvSpPr>
          <p:cNvPr id="22" name="Rect 22"/>
          <p:cNvSpPr/>
          <p:nvPr/>
        </p:nvSpPr>
        <p:spPr>
          <a:xfrm>
            <a:off x="2788920" y="2910840"/>
            <a:ext cx="8778240" cy="487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816352" y="2929128"/>
            <a:ext cx="872337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只训练 layers [0,8,16,24] 的 q_proj/v_proj，共 8 个 adapter</a:t>
            </a:r>
            <a:endParaRPr lang="zh-CN" sz="1400"/>
          </a:p>
        </p:txBody>
      </p:sp>
      <p:sp>
        <p:nvSpPr>
          <p:cNvPr id="24" name="Rect 24"/>
          <p:cNvSpPr/>
          <p:nvPr/>
        </p:nvSpPr>
        <p:spPr>
          <a:xfrm>
            <a:off x="685800" y="3398519"/>
            <a:ext cx="2103120" cy="4876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13232" y="3416807"/>
            <a:ext cx="204825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指标</a:t>
            </a:r>
            <a:endParaRPr lang="zh-CN" sz="1400"/>
          </a:p>
        </p:txBody>
      </p:sp>
      <p:sp>
        <p:nvSpPr>
          <p:cNvPr id="26" name="Rect 26"/>
          <p:cNvSpPr/>
          <p:nvPr/>
        </p:nvSpPr>
        <p:spPr>
          <a:xfrm>
            <a:off x="2788920" y="3398519"/>
            <a:ext cx="8778240" cy="4876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2816352" y="3416807"/>
            <a:ext cx="8723376" cy="4693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exact_match, eval_loss, token accuracy, omega_residual, orth_error, GPU memory</a:t>
            </a:r>
            <a:endParaRPr lang="zh-CN" sz="1400"/>
          </a:p>
        </p:txBody>
      </p:sp>
      <p:sp>
        <p:nvSpPr>
          <p:cNvPr id="28" name="TextBox 28"/>
          <p:cNvSpPr txBox="1"/>
          <p:nvPr/>
        </p:nvSpPr>
        <p:spPr>
          <a:xfrm>
            <a:off x="777240" y="425196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 b="1">
                <a:solidFill>
                  <a:srgbClr val="C00000"/>
                </a:solidFill>
                <a:latin typeface="Microsoft YaHei"/>
                <a:ea typeface="Microsoft YaHei"/>
              </a:rPr>
              <a:t>注意：matched 8-adapter 实验用于公平比较 projection/allocation/capture 机制；全层 LoRA 有 64 adapter，参数量约 8 倍，不能直接和 matched 结果比较。</a:t>
            </a:r>
            <a:endParaRPr lang="zh-CN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Matched 8-adapter 结果汇总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411480" y="914400"/>
            <a:ext cx="2240280" cy="6781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38912" y="932688"/>
            <a:ext cx="21854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 b="1">
                <a:solidFill>
                  <a:srgbClr val="17365D"/>
                </a:solidFill>
                <a:latin typeface="Microsoft YaHei"/>
                <a:ea typeface="Microsoft YaHei"/>
              </a:rPr>
              <a:t>方法</a:t>
            </a:r>
            <a:endParaRPr lang="zh-CN" sz="1150"/>
          </a:p>
        </p:txBody>
      </p:sp>
      <p:sp>
        <p:nvSpPr>
          <p:cNvPr id="6" name="Rect 6"/>
          <p:cNvSpPr/>
          <p:nvPr/>
        </p:nvSpPr>
        <p:spPr>
          <a:xfrm>
            <a:off x="2651760" y="914400"/>
            <a:ext cx="1051560" cy="6781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679192" y="932688"/>
            <a:ext cx="996695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 b="1">
                <a:solidFill>
                  <a:srgbClr val="17365D"/>
                </a:solidFill>
                <a:latin typeface="Microsoft YaHei"/>
                <a:ea typeface="Microsoft YaHei"/>
              </a:rPr>
              <a:t>seeds</a:t>
            </a:r>
            <a:endParaRPr lang="zh-CN" sz="1150"/>
          </a:p>
        </p:txBody>
      </p:sp>
      <p:sp>
        <p:nvSpPr>
          <p:cNvPr id="8" name="Rect 8"/>
          <p:cNvSpPr/>
          <p:nvPr/>
        </p:nvSpPr>
        <p:spPr>
          <a:xfrm>
            <a:off x="3703320" y="914400"/>
            <a:ext cx="1828800" cy="6781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30752" y="932688"/>
            <a:ext cx="177393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 b="1">
                <a:solidFill>
                  <a:srgbClr val="17365D"/>
                </a:solidFill>
                <a:latin typeface="Microsoft YaHei"/>
                <a:ea typeface="Microsoft YaHei"/>
              </a:rPr>
              <a:t>Exact mean ± std</a:t>
            </a:r>
            <a:endParaRPr lang="zh-CN" sz="1150"/>
          </a:p>
        </p:txBody>
      </p:sp>
      <p:sp>
        <p:nvSpPr>
          <p:cNvPr id="10" name="Rect 10"/>
          <p:cNvSpPr/>
          <p:nvPr/>
        </p:nvSpPr>
        <p:spPr>
          <a:xfrm>
            <a:off x="5532120" y="914400"/>
            <a:ext cx="1188720" cy="6781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559552" y="932688"/>
            <a:ext cx="113385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 b="1">
                <a:solidFill>
                  <a:srgbClr val="17365D"/>
                </a:solidFill>
                <a:latin typeface="Microsoft YaHei"/>
                <a:ea typeface="Microsoft YaHei"/>
              </a:rPr>
              <a:t>Loss mean</a:t>
            </a:r>
            <a:endParaRPr lang="zh-CN" sz="1150"/>
          </a:p>
        </p:txBody>
      </p:sp>
      <p:sp>
        <p:nvSpPr>
          <p:cNvPr id="12" name="Rect 12"/>
          <p:cNvSpPr/>
          <p:nvPr/>
        </p:nvSpPr>
        <p:spPr>
          <a:xfrm>
            <a:off x="6720840" y="914400"/>
            <a:ext cx="1325880" cy="6781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48272" y="932688"/>
            <a:ext cx="12710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 b="1">
                <a:solidFill>
                  <a:srgbClr val="17365D"/>
                </a:solidFill>
                <a:latin typeface="Microsoft YaHei"/>
                <a:ea typeface="Microsoft YaHei"/>
              </a:rPr>
              <a:t>参数</a:t>
            </a:r>
            <a:endParaRPr lang="zh-CN" sz="1150"/>
          </a:p>
        </p:txBody>
      </p:sp>
      <p:sp>
        <p:nvSpPr>
          <p:cNvPr id="14" name="Rect 14"/>
          <p:cNvSpPr/>
          <p:nvPr/>
        </p:nvSpPr>
        <p:spPr>
          <a:xfrm>
            <a:off x="8046720" y="914400"/>
            <a:ext cx="3749039" cy="67818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152" y="932688"/>
            <a:ext cx="369417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 b="1">
                <a:solidFill>
                  <a:srgbClr val="17365D"/>
                </a:solidFill>
                <a:latin typeface="Microsoft YaHei"/>
                <a:ea typeface="Microsoft YaHei"/>
              </a:rPr>
              <a:t>判断</a:t>
            </a:r>
            <a:endParaRPr lang="zh-CN" sz="1150"/>
          </a:p>
        </p:txBody>
      </p:sp>
      <p:sp>
        <p:nvSpPr>
          <p:cNvPr id="16" name="Rect 16"/>
          <p:cNvSpPr/>
          <p:nvPr/>
        </p:nvSpPr>
        <p:spPr>
          <a:xfrm>
            <a:off x="411480" y="1592580"/>
            <a:ext cx="224028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8912" y="1610868"/>
            <a:ext cx="21854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LoRA matched</a:t>
            </a:r>
            <a:endParaRPr lang="zh-CN" sz="1150"/>
          </a:p>
        </p:txBody>
      </p:sp>
      <p:sp>
        <p:nvSpPr>
          <p:cNvPr id="18" name="Rect 18"/>
          <p:cNvSpPr/>
          <p:nvPr/>
        </p:nvSpPr>
        <p:spPr>
          <a:xfrm>
            <a:off x="2651760" y="1592580"/>
            <a:ext cx="105156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679192" y="1610868"/>
            <a:ext cx="996695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0,1,2</a:t>
            </a:r>
            <a:endParaRPr lang="zh-CN" sz="1150"/>
          </a:p>
        </p:txBody>
      </p:sp>
      <p:sp>
        <p:nvSpPr>
          <p:cNvPr id="20" name="Rect 20"/>
          <p:cNvSpPr/>
          <p:nvPr/>
        </p:nvSpPr>
        <p:spPr>
          <a:xfrm>
            <a:off x="3703320" y="1592580"/>
            <a:ext cx="182880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730752" y="1610868"/>
            <a:ext cx="177393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0.6099 ± 0.0107</a:t>
            </a:r>
            <a:endParaRPr lang="zh-CN" sz="1150"/>
          </a:p>
        </p:txBody>
      </p:sp>
      <p:sp>
        <p:nvSpPr>
          <p:cNvPr id="22" name="Rect 22"/>
          <p:cNvSpPr/>
          <p:nvPr/>
        </p:nvSpPr>
        <p:spPr>
          <a:xfrm>
            <a:off x="5532120" y="1592580"/>
            <a:ext cx="118872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59552" y="1610868"/>
            <a:ext cx="113385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0.2813</a:t>
            </a:r>
            <a:endParaRPr lang="zh-CN" sz="1150"/>
          </a:p>
        </p:txBody>
      </p:sp>
      <p:sp>
        <p:nvSpPr>
          <p:cNvPr id="24" name="Rect 24"/>
          <p:cNvSpPr/>
          <p:nvPr/>
        </p:nvSpPr>
        <p:spPr>
          <a:xfrm>
            <a:off x="6720840" y="1592580"/>
            <a:ext cx="132588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748272" y="1610868"/>
            <a:ext cx="12710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425,984</a:t>
            </a:r>
            <a:endParaRPr lang="zh-CN" sz="1150"/>
          </a:p>
        </p:txBody>
      </p:sp>
      <p:sp>
        <p:nvSpPr>
          <p:cNvPr id="26" name="Rect 26"/>
          <p:cNvSpPr/>
          <p:nvPr/>
        </p:nvSpPr>
        <p:spPr>
          <a:xfrm>
            <a:off x="8046720" y="1592580"/>
            <a:ext cx="3749039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074152" y="1610868"/>
            <a:ext cx="369417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baseline</a:t>
            </a:r>
            <a:endParaRPr lang="zh-CN" sz="1150"/>
          </a:p>
        </p:txBody>
      </p:sp>
      <p:sp>
        <p:nvSpPr>
          <p:cNvPr id="28" name="Rect 28"/>
          <p:cNvSpPr/>
          <p:nvPr/>
        </p:nvSpPr>
        <p:spPr>
          <a:xfrm>
            <a:off x="411480" y="2270760"/>
            <a:ext cx="224028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38912" y="2289048"/>
            <a:ext cx="21854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SVD-right / OPLoRA</a:t>
            </a:r>
            <a:endParaRPr lang="zh-CN" sz="1150"/>
          </a:p>
        </p:txBody>
      </p:sp>
      <p:sp>
        <p:nvSpPr>
          <p:cNvPr id="30" name="Rect 30"/>
          <p:cNvSpPr/>
          <p:nvPr/>
        </p:nvSpPr>
        <p:spPr>
          <a:xfrm>
            <a:off x="2651760" y="2270760"/>
            <a:ext cx="105156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679192" y="2289048"/>
            <a:ext cx="996695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0,1,2</a:t>
            </a:r>
            <a:endParaRPr lang="zh-CN" sz="1150"/>
          </a:p>
        </p:txBody>
      </p:sp>
      <p:sp>
        <p:nvSpPr>
          <p:cNvPr id="32" name="Rect 32"/>
          <p:cNvSpPr/>
          <p:nvPr/>
        </p:nvSpPr>
        <p:spPr>
          <a:xfrm>
            <a:off x="3703320" y="2270760"/>
            <a:ext cx="182880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730752" y="2289048"/>
            <a:ext cx="177393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0.6147 ± 0.0022</a:t>
            </a:r>
            <a:endParaRPr lang="zh-CN" sz="1150"/>
          </a:p>
        </p:txBody>
      </p:sp>
      <p:sp>
        <p:nvSpPr>
          <p:cNvPr id="34" name="Rect 34"/>
          <p:cNvSpPr/>
          <p:nvPr/>
        </p:nvSpPr>
        <p:spPr>
          <a:xfrm>
            <a:off x="5532120" y="2270760"/>
            <a:ext cx="118872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559552" y="2289048"/>
            <a:ext cx="113385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0.2802</a:t>
            </a:r>
            <a:endParaRPr lang="zh-CN" sz="1150"/>
          </a:p>
        </p:txBody>
      </p:sp>
      <p:sp>
        <p:nvSpPr>
          <p:cNvPr id="36" name="Rect 36"/>
          <p:cNvSpPr/>
          <p:nvPr/>
        </p:nvSpPr>
        <p:spPr>
          <a:xfrm>
            <a:off x="6720840" y="2270760"/>
            <a:ext cx="132588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748272" y="2289048"/>
            <a:ext cx="12710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425,984</a:t>
            </a:r>
            <a:endParaRPr lang="zh-CN" sz="1150"/>
          </a:p>
        </p:txBody>
      </p:sp>
      <p:sp>
        <p:nvSpPr>
          <p:cNvPr id="38" name="Rect 38"/>
          <p:cNvSpPr/>
          <p:nvPr/>
        </p:nvSpPr>
        <p:spPr>
          <a:xfrm>
            <a:off x="8046720" y="2270760"/>
            <a:ext cx="3749039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074152" y="2289048"/>
            <a:ext cx="369417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最稳定</a:t>
            </a:r>
            <a:endParaRPr lang="zh-CN" sz="1150"/>
          </a:p>
        </p:txBody>
      </p:sp>
      <p:sp>
        <p:nvSpPr>
          <p:cNvPr id="40" name="Rect 40"/>
          <p:cNvSpPr/>
          <p:nvPr/>
        </p:nvSpPr>
        <p:spPr>
          <a:xfrm>
            <a:off x="411480" y="2948940"/>
            <a:ext cx="224028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38912" y="2967228"/>
            <a:ext cx="21854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ActCov rank LoRA</a:t>
            </a:r>
            <a:endParaRPr lang="zh-CN" sz="1150"/>
          </a:p>
        </p:txBody>
      </p:sp>
      <p:sp>
        <p:nvSpPr>
          <p:cNvPr id="42" name="Rect 42"/>
          <p:cNvSpPr/>
          <p:nvPr/>
        </p:nvSpPr>
        <p:spPr>
          <a:xfrm>
            <a:off x="2651760" y="2948940"/>
            <a:ext cx="105156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2679192" y="2967228"/>
            <a:ext cx="996695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0,1,2</a:t>
            </a:r>
            <a:endParaRPr lang="zh-CN" sz="1150"/>
          </a:p>
        </p:txBody>
      </p:sp>
      <p:sp>
        <p:nvSpPr>
          <p:cNvPr id="44" name="Rect 44"/>
          <p:cNvSpPr/>
          <p:nvPr/>
        </p:nvSpPr>
        <p:spPr>
          <a:xfrm>
            <a:off x="3703320" y="2948940"/>
            <a:ext cx="182880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3730752" y="2967228"/>
            <a:ext cx="177393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0.6129 ± 0.0181</a:t>
            </a:r>
            <a:endParaRPr lang="zh-CN" sz="1150"/>
          </a:p>
        </p:txBody>
      </p:sp>
      <p:sp>
        <p:nvSpPr>
          <p:cNvPr id="46" name="Rect 46"/>
          <p:cNvSpPr/>
          <p:nvPr/>
        </p:nvSpPr>
        <p:spPr>
          <a:xfrm>
            <a:off x="5532120" y="2948940"/>
            <a:ext cx="118872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559552" y="2967228"/>
            <a:ext cx="113385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0.2779</a:t>
            </a:r>
            <a:endParaRPr lang="zh-CN" sz="1150"/>
          </a:p>
        </p:txBody>
      </p:sp>
      <p:sp>
        <p:nvSpPr>
          <p:cNvPr id="48" name="Rect 48"/>
          <p:cNvSpPr/>
          <p:nvPr/>
        </p:nvSpPr>
        <p:spPr>
          <a:xfrm>
            <a:off x="6720840" y="2948940"/>
            <a:ext cx="132588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748272" y="2967228"/>
            <a:ext cx="12710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417,792</a:t>
            </a:r>
            <a:endParaRPr lang="zh-CN" sz="1150"/>
          </a:p>
        </p:txBody>
      </p:sp>
      <p:sp>
        <p:nvSpPr>
          <p:cNvPr id="50" name="Rect 50"/>
          <p:cNvSpPr/>
          <p:nvPr/>
        </p:nvSpPr>
        <p:spPr>
          <a:xfrm>
            <a:off x="8046720" y="2948940"/>
            <a:ext cx="3749039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074152" y="2967228"/>
            <a:ext cx="369417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loss 低但波动大</a:t>
            </a:r>
            <a:endParaRPr lang="zh-CN" sz="1150"/>
          </a:p>
        </p:txBody>
      </p:sp>
      <p:sp>
        <p:nvSpPr>
          <p:cNvPr id="52" name="Rect 52"/>
          <p:cNvSpPr/>
          <p:nvPr/>
        </p:nvSpPr>
        <p:spPr>
          <a:xfrm>
            <a:off x="411480" y="3627120"/>
            <a:ext cx="224028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438912" y="3645408"/>
            <a:ext cx="21854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ActCov rank + SVD-right</a:t>
            </a:r>
            <a:endParaRPr lang="zh-CN" sz="1150"/>
          </a:p>
        </p:txBody>
      </p:sp>
      <p:sp>
        <p:nvSpPr>
          <p:cNvPr id="54" name="Rect 54"/>
          <p:cNvSpPr/>
          <p:nvPr/>
        </p:nvSpPr>
        <p:spPr>
          <a:xfrm>
            <a:off x="2651760" y="3627120"/>
            <a:ext cx="105156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2679192" y="3645408"/>
            <a:ext cx="996695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0,1,2</a:t>
            </a:r>
            <a:endParaRPr lang="zh-CN" sz="1150"/>
          </a:p>
        </p:txBody>
      </p:sp>
      <p:sp>
        <p:nvSpPr>
          <p:cNvPr id="56" name="Rect 56"/>
          <p:cNvSpPr/>
          <p:nvPr/>
        </p:nvSpPr>
        <p:spPr>
          <a:xfrm>
            <a:off x="3703320" y="3627120"/>
            <a:ext cx="182880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730752" y="3645408"/>
            <a:ext cx="177393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0.6122 ± 0.0163</a:t>
            </a:r>
            <a:endParaRPr lang="zh-CN" sz="1150"/>
          </a:p>
        </p:txBody>
      </p:sp>
      <p:sp>
        <p:nvSpPr>
          <p:cNvPr id="58" name="Rect 58"/>
          <p:cNvSpPr/>
          <p:nvPr/>
        </p:nvSpPr>
        <p:spPr>
          <a:xfrm>
            <a:off x="5532120" y="3627120"/>
            <a:ext cx="118872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559552" y="3645408"/>
            <a:ext cx="113385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0.2739</a:t>
            </a:r>
            <a:endParaRPr lang="zh-CN" sz="1150"/>
          </a:p>
        </p:txBody>
      </p:sp>
      <p:sp>
        <p:nvSpPr>
          <p:cNvPr id="60" name="Rect 60"/>
          <p:cNvSpPr/>
          <p:nvPr/>
        </p:nvSpPr>
        <p:spPr>
          <a:xfrm>
            <a:off x="6720840" y="3627120"/>
            <a:ext cx="1325880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748272" y="3645408"/>
            <a:ext cx="12710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417,792</a:t>
            </a:r>
            <a:endParaRPr lang="zh-CN" sz="1150"/>
          </a:p>
        </p:txBody>
      </p:sp>
      <p:sp>
        <p:nvSpPr>
          <p:cNvPr id="62" name="Rect 62"/>
          <p:cNvSpPr/>
          <p:nvPr/>
        </p:nvSpPr>
        <p:spPr>
          <a:xfrm>
            <a:off x="8046720" y="3627120"/>
            <a:ext cx="3749039" cy="6781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074152" y="3645408"/>
            <a:ext cx="369417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loss 最低但 EM 不稳</a:t>
            </a:r>
            <a:endParaRPr lang="zh-CN" sz="1150"/>
          </a:p>
        </p:txBody>
      </p:sp>
      <p:sp>
        <p:nvSpPr>
          <p:cNvPr id="64" name="Rect 64"/>
          <p:cNvSpPr/>
          <p:nvPr/>
        </p:nvSpPr>
        <p:spPr>
          <a:xfrm>
            <a:off x="411480" y="4305300"/>
            <a:ext cx="224028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438912" y="4323588"/>
            <a:ext cx="21854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ActCov rank PC-LoRA</a:t>
            </a:r>
            <a:endParaRPr lang="zh-CN" sz="1150"/>
          </a:p>
        </p:txBody>
      </p:sp>
      <p:sp>
        <p:nvSpPr>
          <p:cNvPr id="66" name="Rect 66"/>
          <p:cNvSpPr/>
          <p:nvPr/>
        </p:nvSpPr>
        <p:spPr>
          <a:xfrm>
            <a:off x="2651760" y="4305300"/>
            <a:ext cx="105156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2679192" y="4323588"/>
            <a:ext cx="996695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0,1</a:t>
            </a:r>
            <a:endParaRPr lang="zh-CN" sz="1150"/>
          </a:p>
        </p:txBody>
      </p:sp>
      <p:sp>
        <p:nvSpPr>
          <p:cNvPr id="68" name="Rect 68"/>
          <p:cNvSpPr/>
          <p:nvPr/>
        </p:nvSpPr>
        <p:spPr>
          <a:xfrm>
            <a:off x="3703320" y="4305300"/>
            <a:ext cx="182880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730752" y="4323588"/>
            <a:ext cx="177393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0.6174 ± 0.0020</a:t>
            </a:r>
            <a:endParaRPr lang="zh-CN" sz="1150"/>
          </a:p>
        </p:txBody>
      </p:sp>
      <p:sp>
        <p:nvSpPr>
          <p:cNvPr id="70" name="Rect 70"/>
          <p:cNvSpPr/>
          <p:nvPr/>
        </p:nvSpPr>
        <p:spPr>
          <a:xfrm>
            <a:off x="5532120" y="4305300"/>
            <a:ext cx="118872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5559552" y="4323588"/>
            <a:ext cx="113385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0.2744</a:t>
            </a:r>
            <a:endParaRPr lang="zh-CN" sz="1150"/>
          </a:p>
        </p:txBody>
      </p:sp>
      <p:sp>
        <p:nvSpPr>
          <p:cNvPr id="72" name="Rect 72"/>
          <p:cNvSpPr/>
          <p:nvPr/>
        </p:nvSpPr>
        <p:spPr>
          <a:xfrm>
            <a:off x="6720840" y="4305300"/>
            <a:ext cx="1325880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6748272" y="4323588"/>
            <a:ext cx="127101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417,792</a:t>
            </a:r>
            <a:endParaRPr lang="zh-CN" sz="1150"/>
          </a:p>
        </p:txBody>
      </p:sp>
      <p:sp>
        <p:nvSpPr>
          <p:cNvPr id="74" name="Rect 74"/>
          <p:cNvSpPr/>
          <p:nvPr/>
        </p:nvSpPr>
        <p:spPr>
          <a:xfrm>
            <a:off x="8046720" y="4305300"/>
            <a:ext cx="3749039" cy="67818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8074152" y="4323588"/>
            <a:ext cx="3694176" cy="6598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150">
                <a:solidFill>
                  <a:srgbClr val="202020"/>
                </a:solidFill>
                <a:latin typeface="Microsoft YaHei"/>
                <a:ea typeface="Microsoft YaHei"/>
              </a:rPr>
              <a:t>当前最有希望；缺 seed2</a:t>
            </a:r>
            <a:endParaRPr lang="zh-CN" sz="1150"/>
          </a:p>
        </p:txBody>
      </p:sp>
      <p:sp>
        <p:nvSpPr>
          <p:cNvPr id="76" name="TextBox 76"/>
          <p:cNvSpPr txBox="1"/>
          <p:nvPr/>
        </p:nvSpPr>
        <p:spPr>
          <a:xfrm>
            <a:off x="594360" y="52578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 b="1">
                <a:solidFill>
                  <a:srgbClr val="17365D"/>
                </a:solidFill>
                <a:latin typeface="Microsoft YaHei"/>
                <a:ea typeface="Microsoft YaHei"/>
              </a:rPr>
              <a:t>初步结论：组合方法在 seed0/1 上超过 SVD-right，但必须补 seed2 才能作为主结论。</a:t>
            </a:r>
            <a:endParaRPr 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Seed-level 关键对比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502920" y="914400"/>
            <a:ext cx="3718560" cy="54102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0352" y="932688"/>
            <a:ext cx="3663696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方法</a:t>
            </a:r>
            <a:endParaRPr lang="zh-CN" sz="1400"/>
          </a:p>
        </p:txBody>
      </p:sp>
      <p:sp>
        <p:nvSpPr>
          <p:cNvPr id="6" name="Rect 6"/>
          <p:cNvSpPr/>
          <p:nvPr/>
        </p:nvSpPr>
        <p:spPr>
          <a:xfrm>
            <a:off x="4221480" y="914400"/>
            <a:ext cx="1859280" cy="54102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248912" y="9326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seed0</a:t>
            </a:r>
            <a:endParaRPr lang="zh-CN" sz="1400"/>
          </a:p>
        </p:txBody>
      </p:sp>
      <p:sp>
        <p:nvSpPr>
          <p:cNvPr id="8" name="Rect 8"/>
          <p:cNvSpPr/>
          <p:nvPr/>
        </p:nvSpPr>
        <p:spPr>
          <a:xfrm>
            <a:off x="6080759" y="914400"/>
            <a:ext cx="1859280" cy="54102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108192" y="9326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seed1</a:t>
            </a:r>
            <a:endParaRPr lang="zh-CN" sz="1400"/>
          </a:p>
        </p:txBody>
      </p:sp>
      <p:sp>
        <p:nvSpPr>
          <p:cNvPr id="10" name="Rect 10"/>
          <p:cNvSpPr/>
          <p:nvPr/>
        </p:nvSpPr>
        <p:spPr>
          <a:xfrm>
            <a:off x="7940040" y="914400"/>
            <a:ext cx="1859280" cy="54102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67472" y="9326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seed2</a:t>
            </a:r>
            <a:endParaRPr lang="zh-CN" sz="1400"/>
          </a:p>
        </p:txBody>
      </p:sp>
      <p:sp>
        <p:nvSpPr>
          <p:cNvPr id="12" name="Rect 12"/>
          <p:cNvSpPr/>
          <p:nvPr/>
        </p:nvSpPr>
        <p:spPr>
          <a:xfrm>
            <a:off x="9799320" y="914400"/>
            <a:ext cx="1859280" cy="54102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826752" y="9326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均值</a:t>
            </a:r>
            <a:endParaRPr lang="zh-CN" sz="1400"/>
          </a:p>
        </p:txBody>
      </p:sp>
      <p:sp>
        <p:nvSpPr>
          <p:cNvPr id="14" name="Rect 14"/>
          <p:cNvSpPr/>
          <p:nvPr/>
        </p:nvSpPr>
        <p:spPr>
          <a:xfrm>
            <a:off x="502920" y="1455420"/>
            <a:ext cx="371856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30352" y="1473708"/>
            <a:ext cx="3663696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LoRA matched</a:t>
            </a:r>
            <a:endParaRPr lang="zh-CN" sz="1400"/>
          </a:p>
        </p:txBody>
      </p:sp>
      <p:sp>
        <p:nvSpPr>
          <p:cNvPr id="16" name="Rect 16"/>
          <p:cNvSpPr/>
          <p:nvPr/>
        </p:nvSpPr>
        <p:spPr>
          <a:xfrm>
            <a:off x="4221480" y="145542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248912" y="147370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0.6046</a:t>
            </a:r>
            <a:endParaRPr lang="zh-CN" sz="1400"/>
          </a:p>
        </p:txBody>
      </p:sp>
      <p:sp>
        <p:nvSpPr>
          <p:cNvPr id="18" name="Rect 18"/>
          <p:cNvSpPr/>
          <p:nvPr/>
        </p:nvSpPr>
        <p:spPr>
          <a:xfrm>
            <a:off x="6080759" y="145542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108192" y="147370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0.6222</a:t>
            </a:r>
            <a:endParaRPr lang="zh-CN" sz="1400"/>
          </a:p>
        </p:txBody>
      </p:sp>
      <p:sp>
        <p:nvSpPr>
          <p:cNvPr id="20" name="Rect 20"/>
          <p:cNvSpPr/>
          <p:nvPr/>
        </p:nvSpPr>
        <p:spPr>
          <a:xfrm>
            <a:off x="7940040" y="145542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67472" y="147370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0.6028</a:t>
            </a:r>
            <a:endParaRPr lang="zh-CN" sz="1400"/>
          </a:p>
        </p:txBody>
      </p:sp>
      <p:sp>
        <p:nvSpPr>
          <p:cNvPr id="22" name="Rect 22"/>
          <p:cNvSpPr/>
          <p:nvPr/>
        </p:nvSpPr>
        <p:spPr>
          <a:xfrm>
            <a:off x="9799320" y="145542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26752" y="147370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0.6099</a:t>
            </a:r>
            <a:endParaRPr lang="zh-CN" sz="1400"/>
          </a:p>
        </p:txBody>
      </p:sp>
      <p:sp>
        <p:nvSpPr>
          <p:cNvPr id="24" name="Rect 24"/>
          <p:cNvSpPr/>
          <p:nvPr/>
        </p:nvSpPr>
        <p:spPr>
          <a:xfrm>
            <a:off x="502920" y="1996440"/>
            <a:ext cx="371856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0352" y="2014728"/>
            <a:ext cx="3663696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SVD-right / OPLoRA</a:t>
            </a:r>
            <a:endParaRPr lang="zh-CN" sz="1400"/>
          </a:p>
        </p:txBody>
      </p:sp>
      <p:sp>
        <p:nvSpPr>
          <p:cNvPr id="26" name="Rect 26"/>
          <p:cNvSpPr/>
          <p:nvPr/>
        </p:nvSpPr>
        <p:spPr>
          <a:xfrm>
            <a:off x="4221480" y="199644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248912" y="201472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0.6124</a:t>
            </a:r>
            <a:endParaRPr lang="zh-CN" sz="1400"/>
          </a:p>
        </p:txBody>
      </p:sp>
      <p:sp>
        <p:nvSpPr>
          <p:cNvPr id="28" name="Rect 28"/>
          <p:cNvSpPr/>
          <p:nvPr/>
        </p:nvSpPr>
        <p:spPr>
          <a:xfrm>
            <a:off x="6080759" y="199644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108192" y="201472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0.6168</a:t>
            </a:r>
            <a:endParaRPr lang="zh-CN" sz="1400"/>
          </a:p>
        </p:txBody>
      </p:sp>
      <p:sp>
        <p:nvSpPr>
          <p:cNvPr id="30" name="Rect 30"/>
          <p:cNvSpPr/>
          <p:nvPr/>
        </p:nvSpPr>
        <p:spPr>
          <a:xfrm>
            <a:off x="7940040" y="199644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967472" y="201472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0.6150</a:t>
            </a:r>
            <a:endParaRPr lang="zh-CN" sz="1400"/>
          </a:p>
        </p:txBody>
      </p:sp>
      <p:sp>
        <p:nvSpPr>
          <p:cNvPr id="32" name="Rect 32"/>
          <p:cNvSpPr/>
          <p:nvPr/>
        </p:nvSpPr>
        <p:spPr>
          <a:xfrm>
            <a:off x="9799320" y="199644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826752" y="201472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0.6147</a:t>
            </a:r>
            <a:endParaRPr lang="zh-CN" sz="1400"/>
          </a:p>
        </p:txBody>
      </p:sp>
      <p:sp>
        <p:nvSpPr>
          <p:cNvPr id="34" name="Rect 34"/>
          <p:cNvSpPr/>
          <p:nvPr/>
        </p:nvSpPr>
        <p:spPr>
          <a:xfrm>
            <a:off x="502920" y="2537460"/>
            <a:ext cx="371856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30352" y="2555748"/>
            <a:ext cx="3663696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ActCov rank LoRA</a:t>
            </a:r>
            <a:endParaRPr lang="zh-CN" sz="1400"/>
          </a:p>
        </p:txBody>
      </p:sp>
      <p:sp>
        <p:nvSpPr>
          <p:cNvPr id="36" name="Rect 36"/>
          <p:cNvSpPr/>
          <p:nvPr/>
        </p:nvSpPr>
        <p:spPr>
          <a:xfrm>
            <a:off x="4221480" y="253746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4248912" y="255574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0.6148</a:t>
            </a:r>
            <a:endParaRPr lang="zh-CN" sz="1400"/>
          </a:p>
        </p:txBody>
      </p:sp>
      <p:sp>
        <p:nvSpPr>
          <p:cNvPr id="38" name="Rect 38"/>
          <p:cNvSpPr/>
          <p:nvPr/>
        </p:nvSpPr>
        <p:spPr>
          <a:xfrm>
            <a:off x="6080759" y="253746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08192" y="255574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0.6300</a:t>
            </a:r>
            <a:endParaRPr lang="zh-CN" sz="1400"/>
          </a:p>
        </p:txBody>
      </p:sp>
      <p:sp>
        <p:nvSpPr>
          <p:cNvPr id="40" name="Rect 40"/>
          <p:cNvSpPr/>
          <p:nvPr/>
        </p:nvSpPr>
        <p:spPr>
          <a:xfrm>
            <a:off x="7940040" y="253746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967472" y="255574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0.5940</a:t>
            </a:r>
            <a:endParaRPr lang="zh-CN" sz="1400"/>
          </a:p>
        </p:txBody>
      </p:sp>
      <p:sp>
        <p:nvSpPr>
          <p:cNvPr id="42" name="Rect 42"/>
          <p:cNvSpPr/>
          <p:nvPr/>
        </p:nvSpPr>
        <p:spPr>
          <a:xfrm>
            <a:off x="9799320" y="253746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826752" y="255574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0.6129</a:t>
            </a:r>
            <a:endParaRPr lang="zh-CN" sz="1400"/>
          </a:p>
        </p:txBody>
      </p:sp>
      <p:sp>
        <p:nvSpPr>
          <p:cNvPr id="44" name="Rect 44"/>
          <p:cNvSpPr/>
          <p:nvPr/>
        </p:nvSpPr>
        <p:spPr>
          <a:xfrm>
            <a:off x="502920" y="3078480"/>
            <a:ext cx="371856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530352" y="3096768"/>
            <a:ext cx="3663696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ActCov rank + SVD-right</a:t>
            </a:r>
            <a:endParaRPr lang="zh-CN" sz="1400"/>
          </a:p>
        </p:txBody>
      </p:sp>
      <p:sp>
        <p:nvSpPr>
          <p:cNvPr id="46" name="Rect 46"/>
          <p:cNvSpPr/>
          <p:nvPr/>
        </p:nvSpPr>
        <p:spPr>
          <a:xfrm>
            <a:off x="4221480" y="307848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248912" y="309676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0.6136</a:t>
            </a:r>
            <a:endParaRPr lang="zh-CN" sz="1400"/>
          </a:p>
        </p:txBody>
      </p:sp>
      <p:sp>
        <p:nvSpPr>
          <p:cNvPr id="48" name="Rect 48"/>
          <p:cNvSpPr/>
          <p:nvPr/>
        </p:nvSpPr>
        <p:spPr>
          <a:xfrm>
            <a:off x="6080759" y="307848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108192" y="309676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0.6278</a:t>
            </a:r>
            <a:endParaRPr lang="zh-CN" sz="1400"/>
          </a:p>
        </p:txBody>
      </p:sp>
      <p:sp>
        <p:nvSpPr>
          <p:cNvPr id="50" name="Rect 50"/>
          <p:cNvSpPr/>
          <p:nvPr/>
        </p:nvSpPr>
        <p:spPr>
          <a:xfrm>
            <a:off x="7940040" y="307848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7967472" y="309676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0.5952</a:t>
            </a:r>
            <a:endParaRPr lang="zh-CN" sz="1400"/>
          </a:p>
        </p:txBody>
      </p:sp>
      <p:sp>
        <p:nvSpPr>
          <p:cNvPr id="52" name="Rect 52"/>
          <p:cNvSpPr/>
          <p:nvPr/>
        </p:nvSpPr>
        <p:spPr>
          <a:xfrm>
            <a:off x="9799320" y="307848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9826752" y="309676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0.6122</a:t>
            </a:r>
            <a:endParaRPr lang="zh-CN" sz="1400"/>
          </a:p>
        </p:txBody>
      </p:sp>
      <p:sp>
        <p:nvSpPr>
          <p:cNvPr id="54" name="Rect 54"/>
          <p:cNvSpPr/>
          <p:nvPr/>
        </p:nvSpPr>
        <p:spPr>
          <a:xfrm>
            <a:off x="502920" y="3619500"/>
            <a:ext cx="371856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30352" y="3637788"/>
            <a:ext cx="3663696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ActCov rank PC-LoRA</a:t>
            </a:r>
            <a:endParaRPr lang="zh-CN" sz="1400"/>
          </a:p>
        </p:txBody>
      </p:sp>
      <p:sp>
        <p:nvSpPr>
          <p:cNvPr id="56" name="Rect 56"/>
          <p:cNvSpPr/>
          <p:nvPr/>
        </p:nvSpPr>
        <p:spPr>
          <a:xfrm>
            <a:off x="4221480" y="361950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4248912" y="36377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0.6160</a:t>
            </a:r>
            <a:endParaRPr lang="zh-CN" sz="1400"/>
          </a:p>
        </p:txBody>
      </p:sp>
      <p:sp>
        <p:nvSpPr>
          <p:cNvPr id="58" name="Rect 58"/>
          <p:cNvSpPr/>
          <p:nvPr/>
        </p:nvSpPr>
        <p:spPr>
          <a:xfrm>
            <a:off x="6080759" y="361950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6108192" y="36377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0.6188</a:t>
            </a:r>
            <a:endParaRPr lang="zh-CN" sz="1400"/>
          </a:p>
        </p:txBody>
      </p:sp>
      <p:sp>
        <p:nvSpPr>
          <p:cNvPr id="60" name="Rect 60"/>
          <p:cNvSpPr/>
          <p:nvPr/>
        </p:nvSpPr>
        <p:spPr>
          <a:xfrm>
            <a:off x="7940040" y="361950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967472" y="36377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待跑</a:t>
            </a:r>
            <a:endParaRPr lang="zh-CN" sz="1400"/>
          </a:p>
        </p:txBody>
      </p:sp>
      <p:sp>
        <p:nvSpPr>
          <p:cNvPr id="62" name="Rect 62"/>
          <p:cNvSpPr/>
          <p:nvPr/>
        </p:nvSpPr>
        <p:spPr>
          <a:xfrm>
            <a:off x="9799320" y="3619500"/>
            <a:ext cx="1859280" cy="54102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826752" y="3637788"/>
            <a:ext cx="1804415" cy="5227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0.6174*</a:t>
            </a:r>
            <a:endParaRPr lang="zh-CN" sz="1400"/>
          </a:p>
        </p:txBody>
      </p:sp>
      <p:sp>
        <p:nvSpPr>
          <p:cNvPr id="64" name="TextBox 64"/>
          <p:cNvSpPr txBox="1"/>
          <p:nvPr/>
        </p:nvSpPr>
        <p:spPr>
          <a:xfrm>
            <a:off x="685800" y="4526280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观察：Activation-aware rank 系列在 seed1 很强，但 seed2 容易掉，说明 allocation 信号有潜力但稳定性不足。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ActCov rank PC-LoRA 目前 seed0/1 都高于 SVD-right 对应 seed。</a:t>
            </a:r>
            <a:endParaRPr lang="zh-CN" sz="1800"/>
          </a:p>
        </p:txBody>
      </p:sp>
      <p:sp>
        <p:nvSpPr>
          <p:cNvPr id="65" name="TextBox 65"/>
          <p:cNvSpPr txBox="1"/>
          <p:nvPr/>
        </p:nvSpPr>
        <p:spPr>
          <a:xfrm>
            <a:off x="685800" y="5623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300">
                <a:solidFill>
                  <a:srgbClr val="666666"/>
                </a:solidFill>
                <a:latin typeface="Microsoft YaHei"/>
                <a:ea typeface="Microsoft YaHei"/>
              </a:rPr>
              <a:t>* 仅基于 seed0/1，不是最终统计。</a:t>
            </a:r>
            <a:endParaRPr lang="zh-CN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ActivationCov probe：为什么看起来“效果很好”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640080" y="8686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 b="1">
                <a:solidFill>
                  <a:srgbClr val="17365D"/>
                </a:solidFill>
                <a:latin typeface="Microsoft YaHei"/>
                <a:ea typeface="Microsoft YaHei"/>
              </a:rPr>
              <a:t>在 activation_cov_experiment 中，评价目标是“解释真实激活能量”，不是微调性能。</a:t>
            </a:r>
            <a:endParaRPr lang="zh-CN" sz="2000"/>
          </a:p>
        </p:txBody>
      </p:sp>
      <p:sp>
        <p:nvSpPr>
          <p:cNvPr id="5" name="Rect 5"/>
          <p:cNvSpPr/>
          <p:nvPr/>
        </p:nvSpPr>
        <p:spPr>
          <a:xfrm>
            <a:off x="685800" y="1737360"/>
            <a:ext cx="1023582" cy="51816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13232" y="1755648"/>
            <a:ext cx="968718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k</a:t>
            </a:r>
            <a:endParaRPr lang="zh-CN" sz="1400"/>
          </a:p>
        </p:txBody>
      </p:sp>
      <p:sp>
        <p:nvSpPr>
          <p:cNvPr id="7" name="Rect 7"/>
          <p:cNvSpPr/>
          <p:nvPr/>
        </p:nvSpPr>
        <p:spPr>
          <a:xfrm>
            <a:off x="1709382" y="1737360"/>
            <a:ext cx="2047164" cy="51816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736814" y="1755648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ActCov capture</a:t>
            </a:r>
            <a:endParaRPr lang="zh-CN" sz="1400"/>
          </a:p>
        </p:txBody>
      </p:sp>
      <p:sp>
        <p:nvSpPr>
          <p:cNvPr id="9" name="Rect 9"/>
          <p:cNvSpPr/>
          <p:nvPr/>
        </p:nvSpPr>
        <p:spPr>
          <a:xfrm>
            <a:off x="3756546" y="1737360"/>
            <a:ext cx="2047164" cy="51816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83978" y="1755648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SVD capture</a:t>
            </a:r>
            <a:endParaRPr lang="zh-CN" sz="1400"/>
          </a:p>
        </p:txBody>
      </p:sp>
      <p:sp>
        <p:nvSpPr>
          <p:cNvPr id="11" name="Rect 11"/>
          <p:cNvSpPr/>
          <p:nvPr/>
        </p:nvSpPr>
        <p:spPr>
          <a:xfrm>
            <a:off x="5803710" y="1737360"/>
            <a:ext cx="1740089" cy="518160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831142" y="1755648"/>
            <a:ext cx="1685225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 b="1">
                <a:solidFill>
                  <a:srgbClr val="17365D"/>
                </a:solidFill>
                <a:latin typeface="Microsoft YaHei"/>
                <a:ea typeface="Microsoft YaHei"/>
              </a:rPr>
              <a:t>Random</a:t>
            </a:r>
            <a:endParaRPr lang="zh-CN" sz="1400"/>
          </a:p>
        </p:txBody>
      </p:sp>
      <p:sp>
        <p:nvSpPr>
          <p:cNvPr id="13" name="Rect 13"/>
          <p:cNvSpPr/>
          <p:nvPr/>
        </p:nvSpPr>
        <p:spPr>
          <a:xfrm>
            <a:off x="685800" y="2255520"/>
            <a:ext cx="1023582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13232" y="2273808"/>
            <a:ext cx="968718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4</a:t>
            </a:r>
            <a:endParaRPr lang="zh-CN" sz="1400"/>
          </a:p>
        </p:txBody>
      </p:sp>
      <p:sp>
        <p:nvSpPr>
          <p:cNvPr id="15" name="Rect 15"/>
          <p:cNvSpPr/>
          <p:nvPr/>
        </p:nvSpPr>
        <p:spPr>
          <a:xfrm>
            <a:off x="1709382" y="2255520"/>
            <a:ext cx="2047164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736814" y="2273808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0.439</a:t>
            </a:r>
            <a:endParaRPr lang="zh-CN" sz="1400"/>
          </a:p>
        </p:txBody>
      </p:sp>
      <p:sp>
        <p:nvSpPr>
          <p:cNvPr id="17" name="Rect 17"/>
          <p:cNvSpPr/>
          <p:nvPr/>
        </p:nvSpPr>
        <p:spPr>
          <a:xfrm>
            <a:off x="3756546" y="2255520"/>
            <a:ext cx="2047164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783978" y="2273808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0.102</a:t>
            </a:r>
            <a:endParaRPr lang="zh-CN" sz="1400"/>
          </a:p>
        </p:txBody>
      </p:sp>
      <p:sp>
        <p:nvSpPr>
          <p:cNvPr id="19" name="Rect 19"/>
          <p:cNvSpPr/>
          <p:nvPr/>
        </p:nvSpPr>
        <p:spPr>
          <a:xfrm>
            <a:off x="5803710" y="2255520"/>
            <a:ext cx="1740089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831142" y="2273808"/>
            <a:ext cx="1685225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0.001</a:t>
            </a:r>
            <a:endParaRPr lang="zh-CN" sz="1400"/>
          </a:p>
        </p:txBody>
      </p:sp>
      <p:sp>
        <p:nvSpPr>
          <p:cNvPr id="21" name="Rect 21"/>
          <p:cNvSpPr/>
          <p:nvPr/>
        </p:nvSpPr>
        <p:spPr>
          <a:xfrm>
            <a:off x="685800" y="2773680"/>
            <a:ext cx="1023582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13232" y="2791968"/>
            <a:ext cx="968718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8</a:t>
            </a:r>
            <a:endParaRPr lang="zh-CN" sz="1400"/>
          </a:p>
        </p:txBody>
      </p:sp>
      <p:sp>
        <p:nvSpPr>
          <p:cNvPr id="23" name="Rect 23"/>
          <p:cNvSpPr/>
          <p:nvPr/>
        </p:nvSpPr>
        <p:spPr>
          <a:xfrm>
            <a:off x="1709382" y="2773680"/>
            <a:ext cx="2047164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736814" y="2791968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0.502</a:t>
            </a:r>
            <a:endParaRPr lang="zh-CN" sz="1400"/>
          </a:p>
        </p:txBody>
      </p:sp>
      <p:sp>
        <p:nvSpPr>
          <p:cNvPr id="25" name="Rect 25"/>
          <p:cNvSpPr/>
          <p:nvPr/>
        </p:nvSpPr>
        <p:spPr>
          <a:xfrm>
            <a:off x="3756546" y="2773680"/>
            <a:ext cx="2047164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783978" y="2791968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0.124</a:t>
            </a:r>
            <a:endParaRPr lang="zh-CN" sz="1400"/>
          </a:p>
        </p:txBody>
      </p:sp>
      <p:sp>
        <p:nvSpPr>
          <p:cNvPr id="27" name="Rect 27"/>
          <p:cNvSpPr/>
          <p:nvPr/>
        </p:nvSpPr>
        <p:spPr>
          <a:xfrm>
            <a:off x="5803710" y="2773680"/>
            <a:ext cx="1740089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831142" y="2791968"/>
            <a:ext cx="1685225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0.002</a:t>
            </a:r>
            <a:endParaRPr lang="zh-CN" sz="1400"/>
          </a:p>
        </p:txBody>
      </p:sp>
      <p:sp>
        <p:nvSpPr>
          <p:cNvPr id="29" name="Rect 29"/>
          <p:cNvSpPr/>
          <p:nvPr/>
        </p:nvSpPr>
        <p:spPr>
          <a:xfrm>
            <a:off x="685800" y="3291839"/>
            <a:ext cx="1023582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13232" y="3310127"/>
            <a:ext cx="968718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16</a:t>
            </a:r>
            <a:endParaRPr lang="zh-CN" sz="1400"/>
          </a:p>
        </p:txBody>
      </p:sp>
      <p:sp>
        <p:nvSpPr>
          <p:cNvPr id="31" name="Rect 31"/>
          <p:cNvSpPr/>
          <p:nvPr/>
        </p:nvSpPr>
        <p:spPr>
          <a:xfrm>
            <a:off x="1709382" y="3291839"/>
            <a:ext cx="2047164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36814" y="3310127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0.586</a:t>
            </a:r>
            <a:endParaRPr lang="zh-CN" sz="1400"/>
          </a:p>
        </p:txBody>
      </p:sp>
      <p:sp>
        <p:nvSpPr>
          <p:cNvPr id="33" name="Rect 33"/>
          <p:cNvSpPr/>
          <p:nvPr/>
        </p:nvSpPr>
        <p:spPr>
          <a:xfrm>
            <a:off x="3756546" y="3291839"/>
            <a:ext cx="2047164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783978" y="3310127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0.178</a:t>
            </a:r>
            <a:endParaRPr lang="zh-CN" sz="1400"/>
          </a:p>
        </p:txBody>
      </p:sp>
      <p:sp>
        <p:nvSpPr>
          <p:cNvPr id="35" name="Rect 35"/>
          <p:cNvSpPr/>
          <p:nvPr/>
        </p:nvSpPr>
        <p:spPr>
          <a:xfrm>
            <a:off x="5803710" y="3291839"/>
            <a:ext cx="1740089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831142" y="3310127"/>
            <a:ext cx="1685225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0.003</a:t>
            </a:r>
            <a:endParaRPr lang="zh-CN" sz="1400"/>
          </a:p>
        </p:txBody>
      </p:sp>
      <p:sp>
        <p:nvSpPr>
          <p:cNvPr id="37" name="Rect 37"/>
          <p:cNvSpPr/>
          <p:nvPr/>
        </p:nvSpPr>
        <p:spPr>
          <a:xfrm>
            <a:off x="685800" y="3809999"/>
            <a:ext cx="1023582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13232" y="3828287"/>
            <a:ext cx="968718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32</a:t>
            </a:r>
            <a:endParaRPr lang="zh-CN" sz="1400"/>
          </a:p>
        </p:txBody>
      </p:sp>
      <p:sp>
        <p:nvSpPr>
          <p:cNvPr id="39" name="Rect 39"/>
          <p:cNvSpPr/>
          <p:nvPr/>
        </p:nvSpPr>
        <p:spPr>
          <a:xfrm>
            <a:off x="1709382" y="3809999"/>
            <a:ext cx="2047164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736814" y="3828287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0.679</a:t>
            </a:r>
            <a:endParaRPr lang="zh-CN" sz="1400"/>
          </a:p>
        </p:txBody>
      </p:sp>
      <p:sp>
        <p:nvSpPr>
          <p:cNvPr id="41" name="Rect 41"/>
          <p:cNvSpPr/>
          <p:nvPr/>
        </p:nvSpPr>
        <p:spPr>
          <a:xfrm>
            <a:off x="3756546" y="3809999"/>
            <a:ext cx="2047164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783978" y="3828287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0.242</a:t>
            </a:r>
            <a:endParaRPr lang="zh-CN" sz="1400"/>
          </a:p>
        </p:txBody>
      </p:sp>
      <p:sp>
        <p:nvSpPr>
          <p:cNvPr id="43" name="Rect 43"/>
          <p:cNvSpPr/>
          <p:nvPr/>
        </p:nvSpPr>
        <p:spPr>
          <a:xfrm>
            <a:off x="5803710" y="3809999"/>
            <a:ext cx="1740089" cy="518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831142" y="3828287"/>
            <a:ext cx="1685225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0.008</a:t>
            </a:r>
            <a:endParaRPr lang="zh-CN" sz="1400"/>
          </a:p>
        </p:txBody>
      </p:sp>
      <p:sp>
        <p:nvSpPr>
          <p:cNvPr id="45" name="Rect 45"/>
          <p:cNvSpPr/>
          <p:nvPr/>
        </p:nvSpPr>
        <p:spPr>
          <a:xfrm>
            <a:off x="685800" y="4328159"/>
            <a:ext cx="1023582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13232" y="4346447"/>
            <a:ext cx="968718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64</a:t>
            </a:r>
            <a:endParaRPr lang="zh-CN" sz="1400"/>
          </a:p>
        </p:txBody>
      </p:sp>
      <p:sp>
        <p:nvSpPr>
          <p:cNvPr id="47" name="Rect 47"/>
          <p:cNvSpPr/>
          <p:nvPr/>
        </p:nvSpPr>
        <p:spPr>
          <a:xfrm>
            <a:off x="1709382" y="4328159"/>
            <a:ext cx="2047164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736814" y="4346447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0.769</a:t>
            </a:r>
            <a:endParaRPr lang="zh-CN" sz="1400"/>
          </a:p>
        </p:txBody>
      </p:sp>
      <p:sp>
        <p:nvSpPr>
          <p:cNvPr id="49" name="Rect 49"/>
          <p:cNvSpPr/>
          <p:nvPr/>
        </p:nvSpPr>
        <p:spPr>
          <a:xfrm>
            <a:off x="3756546" y="4328159"/>
            <a:ext cx="2047164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783978" y="4346447"/>
            <a:ext cx="1992300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0.320</a:t>
            </a:r>
            <a:endParaRPr lang="zh-CN" sz="1400"/>
          </a:p>
        </p:txBody>
      </p:sp>
      <p:sp>
        <p:nvSpPr>
          <p:cNvPr id="51" name="Rect 51"/>
          <p:cNvSpPr/>
          <p:nvPr/>
        </p:nvSpPr>
        <p:spPr>
          <a:xfrm>
            <a:off x="5803710" y="4328159"/>
            <a:ext cx="1740089" cy="518160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831142" y="4346447"/>
            <a:ext cx="1685225" cy="49987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400">
                <a:solidFill>
                  <a:srgbClr val="202020"/>
                </a:solidFill>
                <a:latin typeface="Microsoft YaHei"/>
                <a:ea typeface="Microsoft YaHei"/>
              </a:rPr>
              <a:t>0.015</a:t>
            </a:r>
            <a:endParaRPr lang="zh-CN" sz="1400"/>
          </a:p>
        </p:txBody>
      </p:sp>
      <p:sp>
        <p:nvSpPr>
          <p:cNvPr id="53" name="TextBox 53"/>
          <p:cNvSpPr txBox="1"/>
          <p:nvPr/>
        </p:nvSpPr>
        <p:spPr>
          <a:xfrm>
            <a:off x="7955279" y="1874519"/>
            <a:ext cx="833932" cy="42793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r>
              <a:rPr lang="zh-CN" sz="1300">
                <a:solidFill>
                  <a:srgbClr val="202020"/>
                </a:solidFill>
                <a:latin typeface="Microsoft YaHei"/>
                <a:ea typeface="Microsoft YaHei"/>
              </a:rPr>
              <a:t>ActCov k=16</a:t>
            </a:r>
            <a:endParaRPr lang="zh-CN" sz="1300"/>
          </a:p>
        </p:txBody>
      </p:sp>
      <p:sp>
        <p:nvSpPr>
          <p:cNvPr id="54" name="Rect 54"/>
          <p:cNvSpPr/>
          <p:nvPr/>
        </p:nvSpPr>
        <p:spPr>
          <a:xfrm>
            <a:off x="8893454" y="1874519"/>
            <a:ext cx="1866503" cy="427939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0794705" y="1874519"/>
            <a:ext cx="625449" cy="42793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r>
              <a:rPr lang="zh-CN" sz="1300">
                <a:solidFill>
                  <a:srgbClr val="202020"/>
                </a:solidFill>
                <a:latin typeface="Microsoft YaHei"/>
                <a:ea typeface="Microsoft YaHei"/>
              </a:rPr>
              <a:t>0.586</a:t>
            </a:r>
            <a:endParaRPr lang="zh-CN" sz="1300"/>
          </a:p>
        </p:txBody>
      </p:sp>
      <p:sp>
        <p:nvSpPr>
          <p:cNvPr id="56" name="TextBox 56"/>
          <p:cNvSpPr txBox="1"/>
          <p:nvPr/>
        </p:nvSpPr>
        <p:spPr>
          <a:xfrm>
            <a:off x="7955279" y="2697479"/>
            <a:ext cx="833932" cy="42793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r>
              <a:rPr lang="zh-CN" sz="1300">
                <a:solidFill>
                  <a:srgbClr val="202020"/>
                </a:solidFill>
                <a:latin typeface="Microsoft YaHei"/>
                <a:ea typeface="Microsoft YaHei"/>
              </a:rPr>
              <a:t>SVD k=16</a:t>
            </a:r>
            <a:endParaRPr lang="zh-CN" sz="1300"/>
          </a:p>
        </p:txBody>
      </p:sp>
      <p:sp>
        <p:nvSpPr>
          <p:cNvPr id="57" name="Rect 57"/>
          <p:cNvSpPr/>
          <p:nvPr/>
        </p:nvSpPr>
        <p:spPr>
          <a:xfrm>
            <a:off x="8893454" y="2697479"/>
            <a:ext cx="566958" cy="427939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495160" y="2697479"/>
            <a:ext cx="625449" cy="42793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r>
              <a:rPr lang="zh-CN" sz="1300">
                <a:solidFill>
                  <a:srgbClr val="202020"/>
                </a:solidFill>
                <a:latin typeface="Microsoft YaHei"/>
                <a:ea typeface="Microsoft YaHei"/>
              </a:rPr>
              <a:t>0.178</a:t>
            </a:r>
            <a:endParaRPr lang="zh-CN" sz="1300"/>
          </a:p>
        </p:txBody>
      </p:sp>
      <p:sp>
        <p:nvSpPr>
          <p:cNvPr id="59" name="TextBox 59"/>
          <p:cNvSpPr txBox="1"/>
          <p:nvPr/>
        </p:nvSpPr>
        <p:spPr>
          <a:xfrm>
            <a:off x="7955279" y="3520439"/>
            <a:ext cx="833932" cy="42793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r>
              <a:rPr lang="zh-CN" sz="1300">
                <a:solidFill>
                  <a:srgbClr val="202020"/>
                </a:solidFill>
                <a:latin typeface="Microsoft YaHei"/>
                <a:ea typeface="Microsoft YaHei"/>
              </a:rPr>
              <a:t>Random</a:t>
            </a:r>
            <a:endParaRPr lang="zh-CN" sz="1300"/>
          </a:p>
        </p:txBody>
      </p:sp>
      <p:sp>
        <p:nvSpPr>
          <p:cNvPr id="60" name="Rect 60"/>
          <p:cNvSpPr/>
          <p:nvPr/>
        </p:nvSpPr>
        <p:spPr>
          <a:xfrm>
            <a:off x="8893454" y="3520439"/>
            <a:ext cx="9555" cy="427939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937757" y="3520439"/>
            <a:ext cx="625449" cy="42793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r>
              <a:rPr lang="zh-CN" sz="1300">
                <a:solidFill>
                  <a:srgbClr val="202020"/>
                </a:solidFill>
                <a:latin typeface="Microsoft YaHei"/>
                <a:ea typeface="Microsoft YaHei"/>
              </a:rPr>
              <a:t>0.003</a:t>
            </a:r>
            <a:endParaRPr lang="zh-CN" sz="1300"/>
          </a:p>
        </p:txBody>
      </p:sp>
      <p:sp>
        <p:nvSpPr>
          <p:cNvPr id="62" name="TextBox 62"/>
          <p:cNvSpPr txBox="1"/>
          <p:nvPr/>
        </p:nvSpPr>
        <p:spPr>
          <a:xfrm>
            <a:off x="685800" y="525780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 b="1">
                <a:solidFill>
                  <a:srgbClr val="C00000"/>
                </a:solidFill>
                <a:latin typeface="Microsoft YaHei"/>
                <a:ea typeface="Microsoft YaHei"/>
              </a:rPr>
              <a:t>解释：ActCov 能找到真实输入高能方向；但如果作为 hard projection，会把任务信号删掉。</a:t>
            </a:r>
            <a:endParaRPr lang="zh-CN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负结果与机制解释</a:t>
            </a:r>
            <a:endParaRPr lang="zh-CN" sz="2400"/>
          </a:p>
        </p:txBody>
      </p:sp>
      <p:sp>
        <p:nvSpPr>
          <p:cNvPr id="4" name="Rect 4"/>
          <p:cNvSpPr/>
          <p:nvPr/>
        </p:nvSpPr>
        <p:spPr>
          <a:xfrm>
            <a:off x="502920" y="914400"/>
            <a:ext cx="2286000" cy="566928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0352" y="932688"/>
            <a:ext cx="223113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 b="1">
                <a:solidFill>
                  <a:srgbClr val="17365D"/>
                </a:solidFill>
                <a:latin typeface="Microsoft YaHei"/>
                <a:ea typeface="Microsoft YaHei"/>
              </a:rPr>
              <a:t>方向替代</a:t>
            </a:r>
            <a:endParaRPr lang="zh-CN" sz="1250"/>
          </a:p>
        </p:txBody>
      </p:sp>
      <p:sp>
        <p:nvSpPr>
          <p:cNvPr id="6" name="Rect 6"/>
          <p:cNvSpPr/>
          <p:nvPr/>
        </p:nvSpPr>
        <p:spPr>
          <a:xfrm>
            <a:off x="2788920" y="914400"/>
            <a:ext cx="1371599" cy="566928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16351" y="932688"/>
            <a:ext cx="13167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 b="1">
                <a:solidFill>
                  <a:srgbClr val="17365D"/>
                </a:solidFill>
                <a:latin typeface="Microsoft YaHei"/>
                <a:ea typeface="Microsoft YaHei"/>
              </a:rPr>
              <a:t>seed0 exact</a:t>
            </a:r>
            <a:endParaRPr lang="zh-CN" sz="1250"/>
          </a:p>
        </p:txBody>
      </p:sp>
      <p:sp>
        <p:nvSpPr>
          <p:cNvPr id="8" name="Rect 8"/>
          <p:cNvSpPr/>
          <p:nvPr/>
        </p:nvSpPr>
        <p:spPr>
          <a:xfrm>
            <a:off x="4160520" y="914400"/>
            <a:ext cx="2743199" cy="566928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187952" y="932688"/>
            <a:ext cx="26883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 b="1">
                <a:solidFill>
                  <a:srgbClr val="17365D"/>
                </a:solidFill>
                <a:latin typeface="Microsoft YaHei"/>
                <a:ea typeface="Microsoft YaHei"/>
              </a:rPr>
              <a:t>现象</a:t>
            </a:r>
            <a:endParaRPr lang="zh-CN" sz="1250"/>
          </a:p>
        </p:txBody>
      </p:sp>
      <p:sp>
        <p:nvSpPr>
          <p:cNvPr id="10" name="Rect 10"/>
          <p:cNvSpPr/>
          <p:nvPr/>
        </p:nvSpPr>
        <p:spPr>
          <a:xfrm>
            <a:off x="6903719" y="914400"/>
            <a:ext cx="4754880" cy="566928"/>
          </a:xfrm>
          <a:prstGeom prst="rect">
            <a:avLst/>
          </a:prstGeom>
          <a:solidFill>
            <a:srgbClr val="D9EAF7"/>
          </a:solidFill>
          <a:ln>
            <a:solidFill>
              <a:srgbClr val="BFBFB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931151" y="932688"/>
            <a:ext cx="470001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 b="1">
                <a:solidFill>
                  <a:srgbClr val="17365D"/>
                </a:solidFill>
                <a:latin typeface="Microsoft YaHei"/>
                <a:ea typeface="Microsoft YaHei"/>
              </a:rPr>
              <a:t>解释</a:t>
            </a:r>
            <a:endParaRPr lang="zh-CN" sz="1250"/>
          </a:p>
        </p:txBody>
      </p:sp>
      <p:sp>
        <p:nvSpPr>
          <p:cNvPr id="12" name="Rect 12"/>
          <p:cNvSpPr/>
          <p:nvPr/>
        </p:nvSpPr>
        <p:spPr>
          <a:xfrm>
            <a:off x="502920" y="1481328"/>
            <a:ext cx="2286000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0352" y="1499616"/>
            <a:ext cx="223113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ActCov hard projection</a:t>
            </a:r>
            <a:endParaRPr lang="zh-CN" sz="1250"/>
          </a:p>
        </p:txBody>
      </p:sp>
      <p:sp>
        <p:nvSpPr>
          <p:cNvPr id="14" name="Rect 14"/>
          <p:cNvSpPr/>
          <p:nvPr/>
        </p:nvSpPr>
        <p:spPr>
          <a:xfrm>
            <a:off x="2788920" y="1481328"/>
            <a:ext cx="1371599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816351" y="1499616"/>
            <a:ext cx="13167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0.55~0.58</a:t>
            </a:r>
            <a:endParaRPr lang="zh-CN" sz="1250"/>
          </a:p>
        </p:txBody>
      </p:sp>
      <p:sp>
        <p:nvSpPr>
          <p:cNvPr id="16" name="Rect 16"/>
          <p:cNvSpPr/>
          <p:nvPr/>
        </p:nvSpPr>
        <p:spPr>
          <a:xfrm>
            <a:off x="4160520" y="1481328"/>
            <a:ext cx="2743199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187952" y="1499616"/>
            <a:ext cx="26883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明显差于 SVD-right</a:t>
            </a:r>
            <a:endParaRPr lang="zh-CN" sz="1250"/>
          </a:p>
        </p:txBody>
      </p:sp>
      <p:sp>
        <p:nvSpPr>
          <p:cNvPr id="18" name="Rect 18"/>
          <p:cNvSpPr/>
          <p:nvPr/>
        </p:nvSpPr>
        <p:spPr>
          <a:xfrm>
            <a:off x="6903719" y="1481328"/>
            <a:ext cx="4754880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931151" y="1499616"/>
            <a:ext cx="470001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删除了高激活/高任务信号</a:t>
            </a:r>
            <a:endParaRPr lang="zh-CN" sz="1250"/>
          </a:p>
        </p:txBody>
      </p:sp>
      <p:sp>
        <p:nvSpPr>
          <p:cNvPr id="20" name="Rect 20"/>
          <p:cNvSpPr/>
          <p:nvPr/>
        </p:nvSpPr>
        <p:spPr>
          <a:xfrm>
            <a:off x="502920" y="2048256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0352" y="2066544"/>
            <a:ext cx="223113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Fisher-right OPLoRA</a:t>
            </a:r>
            <a:endParaRPr lang="zh-CN" sz="1250"/>
          </a:p>
        </p:txBody>
      </p:sp>
      <p:sp>
        <p:nvSpPr>
          <p:cNvPr id="22" name="Rect 22"/>
          <p:cNvSpPr/>
          <p:nvPr/>
        </p:nvSpPr>
        <p:spPr>
          <a:xfrm>
            <a:off x="2788920" y="2048256"/>
            <a:ext cx="1371599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816351" y="2066544"/>
            <a:ext cx="13167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0.5524</a:t>
            </a:r>
            <a:endParaRPr lang="zh-CN" sz="1250"/>
          </a:p>
        </p:txBody>
      </p:sp>
      <p:sp>
        <p:nvSpPr>
          <p:cNvPr id="24" name="Rect 24"/>
          <p:cNvSpPr/>
          <p:nvPr/>
        </p:nvSpPr>
        <p:spPr>
          <a:xfrm>
            <a:off x="4160520" y="2048256"/>
            <a:ext cx="2743199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187952" y="2066544"/>
            <a:ext cx="26883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最差</a:t>
            </a:r>
            <a:endParaRPr lang="zh-CN" sz="1250"/>
          </a:p>
        </p:txBody>
      </p:sp>
      <p:sp>
        <p:nvSpPr>
          <p:cNvPr id="26" name="Rect 26"/>
          <p:cNvSpPr/>
          <p:nvPr/>
        </p:nvSpPr>
        <p:spPr>
          <a:xfrm>
            <a:off x="6903719" y="2048256"/>
            <a:ext cx="4754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931151" y="2066544"/>
            <a:ext cx="470001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Fisher top 方向是 loss-sensitive，投影掉等于禁用有效学习方向</a:t>
            </a:r>
            <a:endParaRPr lang="zh-CN" sz="1250"/>
          </a:p>
        </p:txBody>
      </p:sp>
      <p:sp>
        <p:nvSpPr>
          <p:cNvPr id="28" name="Rect 28"/>
          <p:cNvSpPr/>
          <p:nvPr/>
        </p:nvSpPr>
        <p:spPr>
          <a:xfrm>
            <a:off x="502920" y="2615184"/>
            <a:ext cx="2286000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30352" y="2633472"/>
            <a:ext cx="223113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CUR-right OPLoRA</a:t>
            </a:r>
            <a:endParaRPr lang="zh-CN" sz="1250"/>
          </a:p>
        </p:txBody>
      </p:sp>
      <p:sp>
        <p:nvSpPr>
          <p:cNvPr id="30" name="Rect 30"/>
          <p:cNvSpPr/>
          <p:nvPr/>
        </p:nvSpPr>
        <p:spPr>
          <a:xfrm>
            <a:off x="2788920" y="2615184"/>
            <a:ext cx="1371599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816351" y="2633472"/>
            <a:ext cx="13167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~0.5994*</a:t>
            </a:r>
            <a:endParaRPr lang="zh-CN" sz="1250"/>
          </a:p>
        </p:txBody>
      </p:sp>
      <p:sp>
        <p:nvSpPr>
          <p:cNvPr id="32" name="Rect 32"/>
          <p:cNvSpPr/>
          <p:nvPr/>
        </p:nvSpPr>
        <p:spPr>
          <a:xfrm>
            <a:off x="4160520" y="2615184"/>
            <a:ext cx="2743199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187952" y="2633472"/>
            <a:ext cx="26883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接近 LoRA 但低于 SVD</a:t>
            </a:r>
            <a:endParaRPr lang="zh-CN" sz="1250"/>
          </a:p>
        </p:txBody>
      </p:sp>
      <p:sp>
        <p:nvSpPr>
          <p:cNvPr id="34" name="Rect 34"/>
          <p:cNvSpPr/>
          <p:nvPr/>
        </p:nvSpPr>
        <p:spPr>
          <a:xfrm>
            <a:off x="6903719" y="2615184"/>
            <a:ext cx="4754880" cy="566928"/>
          </a:xfrm>
          <a:prstGeom prst="rect">
            <a:avLst/>
          </a:prstGeom>
          <a:solidFill>
            <a:srgbClr val="F7FBFF"/>
          </a:solidFill>
          <a:ln>
            <a:solidFill>
              <a:srgbClr val="BFBFB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931151" y="2633472"/>
            <a:ext cx="470001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row/column norm 近似粗，不能替代全局主奇异子空间</a:t>
            </a:r>
            <a:endParaRPr lang="zh-CN" sz="1250"/>
          </a:p>
        </p:txBody>
      </p:sp>
      <p:sp>
        <p:nvSpPr>
          <p:cNvPr id="36" name="Rect 36"/>
          <p:cNvSpPr/>
          <p:nvPr/>
        </p:nvSpPr>
        <p:spPr>
          <a:xfrm>
            <a:off x="502920" y="3182112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30352" y="3200400"/>
            <a:ext cx="223113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PC-LoRA matched</a:t>
            </a:r>
            <a:endParaRPr lang="zh-CN" sz="1250"/>
          </a:p>
        </p:txBody>
      </p:sp>
      <p:sp>
        <p:nvSpPr>
          <p:cNvPr id="38" name="Rect 38"/>
          <p:cNvSpPr/>
          <p:nvPr/>
        </p:nvSpPr>
        <p:spPr>
          <a:xfrm>
            <a:off x="2788920" y="3182112"/>
            <a:ext cx="1371599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816351" y="3200400"/>
            <a:ext cx="13167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0.6034</a:t>
            </a:r>
            <a:endParaRPr lang="zh-CN" sz="1250"/>
          </a:p>
        </p:txBody>
      </p:sp>
      <p:sp>
        <p:nvSpPr>
          <p:cNvPr id="40" name="Rect 40"/>
          <p:cNvSpPr/>
          <p:nvPr/>
        </p:nvSpPr>
        <p:spPr>
          <a:xfrm>
            <a:off x="4160520" y="3182112"/>
            <a:ext cx="2743199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187952" y="3200400"/>
            <a:ext cx="2688335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低于 SVD-right</a:t>
            </a:r>
            <a:endParaRPr lang="zh-CN" sz="1250"/>
          </a:p>
        </p:txBody>
      </p:sp>
      <p:sp>
        <p:nvSpPr>
          <p:cNvPr id="42" name="Rect 42"/>
          <p:cNvSpPr/>
          <p:nvPr/>
        </p:nvSpPr>
        <p:spPr>
          <a:xfrm>
            <a:off x="6903719" y="3182112"/>
            <a:ext cx="4754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931151" y="3200400"/>
            <a:ext cx="4700016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/>
          <a:lstStyle/>
          <a:p>
            <a:r>
              <a:rPr lang="zh-CN" sz="1250">
                <a:solidFill>
                  <a:srgbClr val="202020"/>
                </a:solidFill>
                <a:latin typeface="Microsoft YaHei"/>
                <a:ea typeface="Microsoft YaHei"/>
              </a:rPr>
              <a:t>固定 rank + capture 在该 matched 设置下未发挥</a:t>
            </a:r>
            <a:endParaRPr lang="zh-CN" sz="1250"/>
          </a:p>
        </p:txBody>
      </p:sp>
      <p:sp>
        <p:nvSpPr>
          <p:cNvPr id="44" name="TextBox 44"/>
          <p:cNvSpPr txBox="1"/>
          <p:nvPr/>
        </p:nvSpPr>
        <p:spPr>
          <a:xfrm>
            <a:off x="640080" y="416052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 b="1">
                <a:solidFill>
                  <a:srgbClr val="17365D"/>
                </a:solidFill>
                <a:latin typeface="Microsoft YaHei"/>
                <a:ea typeface="Microsoft YaHei"/>
              </a:rPr>
              <a:t>关键结论：真实激活/梯度方向适合作为“容量分配或软约束”，不适合作为 preserve hard projection。</a:t>
            </a:r>
            <a:endParaRPr lang="zh-CN" sz="2000"/>
          </a:p>
          <a:p>
            <a:r>
              <a:rPr lang="zh-CN" sz="2000" b="1">
                <a:solidFill>
                  <a:srgbClr val="17365D"/>
                </a:solidFill>
                <a:latin typeface="Microsoft YaHei"/>
                <a:ea typeface="Microsoft YaHei"/>
              </a:rPr>
              <a:t>SVD 仍是目前最可靠的 Preserve 信号。</a:t>
            </a:r>
            <a:endParaRPr lang="zh-CN" sz="2000"/>
          </a:p>
        </p:txBody>
      </p:sp>
      <p:sp>
        <p:nvSpPr>
          <p:cNvPr id="45" name="TextBox 45"/>
          <p:cNvSpPr txBox="1"/>
          <p:nvPr/>
        </p:nvSpPr>
        <p:spPr>
          <a:xfrm>
            <a:off x="640080" y="557784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200">
                <a:solidFill>
                  <a:srgbClr val="666666"/>
                </a:solidFill>
                <a:latin typeface="Microsoft YaHei"/>
                <a:ea typeface="Microsoft YaHei"/>
              </a:rPr>
              <a:t>* CUR run 最后有效 eval 在 step250，final_summary 未写出。</a:t>
            </a:r>
            <a:endParaRPr lang="zh-C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当前最佳候选：分工版 PC-LoRA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685800" y="9601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17365D"/>
                </a:solidFill>
                <a:latin typeface="Microsoft YaHei"/>
                <a:ea typeface="Microsoft YaHei"/>
              </a:rPr>
              <a:t>SVD-Preserve + Activation-aware Allocation + PC residual Capture</a:t>
            </a:r>
            <a:endParaRPr lang="zh-CN" sz="2400"/>
          </a:p>
        </p:txBody>
      </p:sp>
      <p:sp>
        <p:nvSpPr>
          <p:cNvPr id="5" name="TextBox 5"/>
          <p:cNvSpPr txBox="1"/>
          <p:nvPr/>
        </p:nvSpPr>
        <p:spPr>
          <a:xfrm>
            <a:off x="868680" y="1828800"/>
            <a:ext cx="3291840" cy="246888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Preserve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right_projection_source = svd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use_right_projection = true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保护 W0 主映射方向</a:t>
            </a:r>
            <a:endParaRPr lang="zh-CN" sz="1800"/>
          </a:p>
        </p:txBody>
      </p:sp>
      <p:sp>
        <p:nvSpPr>
          <p:cNvPr id="6" name="TextBox 6"/>
          <p:cNvSpPr txBox="1"/>
          <p:nvPr/>
        </p:nvSpPr>
        <p:spPr>
          <a:xfrm>
            <a:off x="4434840" y="1828800"/>
            <a:ext cx="3291840" cy="246888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Allocation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ActCov probe rank_pattern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q_proj rank=4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v_proj rank=14</a:t>
            </a:r>
            <a:endParaRPr lang="zh-CN" sz="1800"/>
          </a:p>
        </p:txBody>
      </p:sp>
      <p:sp>
        <p:nvSpPr>
          <p:cNvPr id="7" name="TextBox 7"/>
          <p:cNvSpPr txBox="1"/>
          <p:nvPr/>
        </p:nvSpPr>
        <p:spPr>
          <a:xfrm>
            <a:off x="8001000" y="1828800"/>
            <a:ext cx="3291840" cy="246888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Capture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capture_space = residual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lambda_cap = 0.05</a:t>
            </a:r>
            <a:endParaRPr lang="zh-CN" sz="1800"/>
          </a:p>
          <a:p>
            <a:r>
              <a:rPr lang="zh-CN" sz="1800">
                <a:solidFill>
                  <a:srgbClr val="202020"/>
                </a:solidFill>
                <a:latin typeface="Microsoft YaHei"/>
                <a:ea typeface="Microsoft YaHei"/>
              </a:rPr>
              <a:t>鼓励 A 捕获 P_R z</a:t>
            </a:r>
            <a:endParaRPr lang="zh-CN" sz="1800"/>
          </a:p>
        </p:txBody>
      </p:sp>
      <p:sp>
        <p:nvSpPr>
          <p:cNvPr id="8" name="TextBox 8"/>
          <p:cNvSpPr txBox="1"/>
          <p:nvPr/>
        </p:nvSpPr>
        <p:spPr>
          <a:xfrm>
            <a:off x="868680" y="480060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 b="1">
                <a:solidFill>
                  <a:srgbClr val="C00000"/>
                </a:solidFill>
                <a:latin typeface="Microsoft YaHei"/>
                <a:ea typeface="Microsoft YaHei"/>
              </a:rPr>
              <a:t>seed0/1：Exact 0.6160 / 0.6188，均高于对应 SVD-right；下一步补 seed2 验证稳定性。</a:t>
            </a:r>
            <a:endParaRPr lang="zh-CN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工程与实验产物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731520" y="914400"/>
            <a:ext cx="5303520" cy="448056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核心代码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src/methods/lora_base.py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src/utils/svd.py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src/utils/projection_directions.py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scripts/compute_fisher_directions.py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scripts/compute_cur_directions.py</a:t>
            </a:r>
            <a:endParaRPr lang="zh-CN" sz="1700"/>
          </a:p>
          <a:p>
            <a:r>
              <a:rPr lang="zh-CN" sz="1700">
                <a:solidFill>
                  <a:srgbClr val="202020"/>
                </a:solidFill>
                <a:latin typeface="Microsoft YaHei"/>
                <a:ea typeface="Microsoft YaHei"/>
              </a:rPr>
              <a:t>activation_cov_experiment/</a:t>
            </a:r>
            <a:endParaRPr lang="zh-CN" sz="1700"/>
          </a:p>
        </p:txBody>
      </p:sp>
      <p:sp>
        <p:nvSpPr>
          <p:cNvPr id="5" name="TextBox 5"/>
          <p:cNvSpPr txBox="1"/>
          <p:nvPr/>
        </p:nvSpPr>
        <p:spPr>
          <a:xfrm>
            <a:off x="6217920" y="914400"/>
            <a:ext cx="5303520" cy="448056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550">
                <a:solidFill>
                  <a:srgbClr val="202020"/>
                </a:solidFill>
                <a:latin typeface="Microsoft YaHei"/>
                <a:ea typeface="Microsoft YaHei"/>
              </a:rPr>
              <a:t>关键配置/脚本</a:t>
            </a:r>
            <a:endParaRPr lang="zh-CN" sz="1550"/>
          </a:p>
          <a:p>
            <a:r>
              <a:rPr lang="zh-CN" sz="1550">
                <a:solidFill>
                  <a:srgbClr val="202020"/>
                </a:solidFill>
                <a:latin typeface="Microsoft YaHei"/>
                <a:ea typeface="Microsoft YaHei"/>
              </a:rPr>
              <a:t>configs/experiments/actcov_rank_selected_pc_lora.yaml</a:t>
            </a:r>
            <a:endParaRPr lang="zh-CN" sz="1550"/>
          </a:p>
          <a:p>
            <a:r>
              <a:rPr lang="zh-CN" sz="1550">
                <a:solidFill>
                  <a:srgbClr val="202020"/>
                </a:solidFill>
                <a:latin typeface="Microsoft YaHei"/>
                <a:ea typeface="Microsoft YaHei"/>
              </a:rPr>
              <a:t>scripts/run_commonsense_actcov_rank_pc_lora_8b.sh</a:t>
            </a:r>
            <a:endParaRPr lang="zh-CN" sz="1550"/>
          </a:p>
          <a:p>
            <a:r>
              <a:rPr lang="zh-CN" sz="1550">
                <a:solidFill>
                  <a:srgbClr val="202020"/>
                </a:solidFill>
                <a:latin typeface="Microsoft YaHei"/>
                <a:ea typeface="Microsoft YaHei"/>
              </a:rPr>
              <a:t>configs/experiments/fisher_oplora_probe_layers.yaml</a:t>
            </a:r>
            <a:endParaRPr lang="zh-CN" sz="1550"/>
          </a:p>
          <a:p>
            <a:r>
              <a:rPr lang="zh-CN" sz="1550">
                <a:solidFill>
                  <a:srgbClr val="202020"/>
                </a:solidFill>
                <a:latin typeface="Microsoft YaHei"/>
                <a:ea typeface="Microsoft YaHei"/>
              </a:rPr>
              <a:t>configs/experiments/cur_oplora_probe_layers.yaml</a:t>
            </a:r>
            <a:endParaRPr lang="zh-CN" sz="1550"/>
          </a:p>
          <a:p>
            <a:r>
              <a:rPr lang="zh-CN" sz="1550">
                <a:solidFill>
                  <a:srgbClr val="202020"/>
                </a:solidFill>
                <a:latin typeface="Microsoft YaHei"/>
                <a:ea typeface="Microsoft YaHei"/>
              </a:rPr>
              <a:t>scripts/aggregate_results.py</a:t>
            </a:r>
            <a:endParaRPr lang="zh-CN" sz="1550"/>
          </a:p>
        </p:txBody>
      </p:sp>
      <p:sp>
        <p:nvSpPr>
          <p:cNvPr id="6" name="TextBox 6"/>
          <p:cNvSpPr txBox="1"/>
          <p:nvPr/>
        </p:nvSpPr>
        <p:spPr>
          <a:xfrm>
            <a:off x="731520" y="562356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500">
                <a:solidFill>
                  <a:srgbClr val="444444"/>
                </a:solidFill>
                <a:latin typeface="Microsoft YaHei"/>
                <a:ea typeface="Microsoft YaHei"/>
              </a:rPr>
              <a:t>所有 run 保存 config_resolved.yaml、train/eval/mechanism/efficiency jsonl、final_summary.json。</a:t>
            </a:r>
            <a:endParaRPr lang="zh-CN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当前风险与不足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777240" y="914400"/>
            <a:ext cx="10972800" cy="4389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1. ActCov rank PC-LoRA 还缺 seed2，不能宣称最终优于 SVD-right。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2. matched 8-adapter 只覆盖 layers [0,8,16,24] 的 q/v，尚未证明全层或更多模块有效。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3. Commonsense170k 是当前主评估；math/code/forgetting 还需要补。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4. exact-match 方差较大，loss 改善未必转化为 EM 稳定提升。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5. Fisher/CUR 当前是负结果，但近似方式较轻量，不能代表所有 Fisher/CUR 变体。</a:t>
            </a:r>
            <a:endParaRPr lang="zh-CN" sz="2000"/>
          </a:p>
        </p:txBody>
      </p:sp>
      <p:sp>
        <p:nvSpPr>
          <p:cNvPr id="5" name="TextBox 5"/>
          <p:cNvSpPr txBox="1"/>
          <p:nvPr/>
        </p:nvSpPr>
        <p:spPr>
          <a:xfrm>
            <a:off x="777240" y="5486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800" b="1">
                <a:solidFill>
                  <a:srgbClr val="C00000"/>
                </a:solidFill>
                <a:latin typeface="Microsoft YaHei"/>
                <a:ea typeface="Microsoft YaHei"/>
              </a:rPr>
              <a:t>汇报时建议表述为：当前最有希望的候选，而不是最终方法。</a:t>
            </a:r>
            <a:endParaRPr lang="zh-CN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4048" y="10972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下一步计划</a:t>
            </a:r>
            <a:endParaRPr lang="zh-CN" sz="2400"/>
          </a:p>
        </p:txBody>
      </p:sp>
      <p:sp>
        <p:nvSpPr>
          <p:cNvPr id="4" name="TextBox 4"/>
          <p:cNvSpPr txBox="1"/>
          <p:nvPr/>
        </p:nvSpPr>
        <p:spPr>
          <a:xfrm>
            <a:off x="777240" y="914400"/>
            <a:ext cx="10972800" cy="4389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P0：补 ActCov rank PC-LoRA seed2，完成 3-seed 统计。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P0：生成正式表格和机制图：exact/loss/omega/rho/efficiency。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P1：扩展层选择：last-quarter、all q/v、q/v/o，对比 allocation 是否稳定。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P1：补 math / code / forgetting eval，验证是否只是 commonsense 特化。</a:t>
            </a:r>
            <a:endParaRPr lang="zh-CN" sz="2000"/>
          </a:p>
          <a:p>
            <a:r>
              <a:rPr lang="zh-CN" sz="2000">
                <a:solidFill>
                  <a:srgbClr val="202020"/>
                </a:solidFill>
                <a:latin typeface="Microsoft YaHei"/>
                <a:ea typeface="Microsoft YaHei"/>
              </a:rPr>
              <a:t>P2：把 ActCov 从手工 rank_pattern 改为自动 layer/rank allocator。</a:t>
            </a:r>
            <a:endParaRPr lang="zh-CN" sz="2000"/>
          </a:p>
        </p:txBody>
      </p:sp>
      <p:sp>
        <p:nvSpPr>
          <p:cNvPr id="5" name="TextBox 5"/>
          <p:cNvSpPr txBox="1"/>
          <p:nvPr/>
        </p:nvSpPr>
        <p:spPr>
          <a:xfrm>
            <a:off x="777240" y="5486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r>
              <a:rPr lang="zh-CN" sz="1600" b="1">
                <a:solidFill>
                  <a:srgbClr val="17365D"/>
                </a:solidFill>
                <a:latin typeface="Microsoft YaHei"/>
                <a:ea typeface="Microsoft YaHei"/>
              </a:rPr>
              <a:t>下一条建议命令：bash scripts/run_commonsense_actcov_rank_pc_lora_8b.sh --gpu 0 --seeds 2</a:t>
            </a:r>
            <a:endParaRPr lang="zh-CN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C-LoRA Theme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17365D"/>
      </a:accent1>
      <a:accent2>
        <a:srgbClr val="70AD47"/>
      </a:accent2>
      <a:accent3>
        <a:srgbClr val="FFC000"/>
      </a:accent3>
      <a:accent4>
        <a:srgbClr val="C00000"/>
      </a:accent4>
      <a:accent5>
        <a:srgbClr val="4472C4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PC-LoRA Progress</dc:title>
  <dc:creator>Codex</dc:creator>
  <cp:lastModifiedBy>Codex</cp:lastModifiedBy>
  <dcterms:created xsi:type="dcterms:W3CDTF">2026-05-07T00:00:00Z</dcterms:created>
  <dcterms:modified xsi:type="dcterms:W3CDTF">2026-05-07T00:00:00Z</dcterms:modified>
</cp:coreProperties>
</file>